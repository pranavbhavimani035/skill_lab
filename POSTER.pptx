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Bookman Old Style" panose="02050604050505020204" pitchFamily="18" charset="0"/>
      <p:regular r:id="rId4"/>
      <p:bold r:id="rId5"/>
      <p:italic r:id="rId6"/>
      <p:boldItalic r:id="rId7"/>
    </p:embeddedFont>
    <p:embeddedFont>
      <p:font typeface="Comic Sans MS" panose="030F0702030302020204" pitchFamily="66" charset="0"/>
      <p:regular r:id="rId8"/>
      <p:bold r:id="rId9"/>
      <p:italic r:id="rId10"/>
      <p:boldItalic r:id="rId11"/>
    </p:embeddedFon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Playfair Display" panose="00000500000000000000" pitchFamily="2" charset="0"/>
      <p:regular r:id="rId16"/>
      <p:italic r:id="rId17"/>
    </p:embeddedFont>
    <p:embeddedFont>
      <p:font typeface="Trebuchet MS" panose="020B0603020202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8" autoAdjust="0"/>
  </p:normalViewPr>
  <p:slideViewPr>
    <p:cSldViewPr snapToGrid="0">
      <p:cViewPr>
        <p:scale>
          <a:sx n="25" d="100"/>
          <a:sy n="25" d="100"/>
        </p:scale>
        <p:origin x="1988" y="-136"/>
      </p:cViewPr>
      <p:guideLst>
        <p:guide orient="horz" pos="6735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theme" Target="theme/theme1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viewProps" Target="viewProps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amurthy YC" userId="bf6a1185fec05998" providerId="LiveId" clId="{DFF3F985-E1C4-4C93-9341-E6091D18B275}"/>
    <pc:docChg chg="undo custSel modSld">
      <pc:chgData name="Keshavamurthy YC" userId="bf6a1185fec05998" providerId="LiveId" clId="{DFF3F985-E1C4-4C93-9341-E6091D18B275}" dt="2024-07-03T07:33:03.824" v="78" actId="20577"/>
      <pc:docMkLst>
        <pc:docMk/>
      </pc:docMkLst>
      <pc:sldChg chg="modSp mod">
        <pc:chgData name="Keshavamurthy YC" userId="bf6a1185fec05998" providerId="LiveId" clId="{DFF3F985-E1C4-4C93-9341-E6091D18B275}" dt="2024-07-03T07:33:03.824" v="78" actId="20577"/>
        <pc:sldMkLst>
          <pc:docMk/>
          <pc:sldMk cId="0" sldId="256"/>
        </pc:sldMkLst>
        <pc:spChg chg="mod">
          <ac:chgData name="Keshavamurthy YC" userId="bf6a1185fec05998" providerId="LiveId" clId="{DFF3F985-E1C4-4C93-9341-E6091D18B275}" dt="2024-07-03T07:33:03.824" v="78" actId="20577"/>
          <ac:spMkLst>
            <pc:docMk/>
            <pc:sldMk cId="0" sldId="256"/>
            <ac:spMk id="2" creationId="{96549883-8540-6668-D479-B7068ACA60DE}"/>
          </ac:spMkLst>
        </pc:spChg>
        <pc:spChg chg="mod">
          <ac:chgData name="Keshavamurthy YC" userId="bf6a1185fec05998" providerId="LiveId" clId="{DFF3F985-E1C4-4C93-9341-E6091D18B275}" dt="2024-07-03T07:31:18.458" v="48" actId="20577"/>
          <ac:spMkLst>
            <pc:docMk/>
            <pc:sldMk cId="0" sldId="256"/>
            <ac:spMk id="13" creationId="{4D62BE2B-B35B-D625-2122-05FD6EFD4E3C}"/>
          </ac:spMkLst>
        </pc:spChg>
        <pc:spChg chg="mod">
          <ac:chgData name="Keshavamurthy YC" userId="bf6a1185fec05998" providerId="LiveId" clId="{DFF3F985-E1C4-4C93-9341-E6091D18B275}" dt="2024-07-03T07:30:55.305" v="32" actId="20577"/>
          <ac:spMkLst>
            <pc:docMk/>
            <pc:sldMk cId="0" sldId="256"/>
            <ac:spMk id="172" creationId="{00000000-0000-0000-0000-000000000000}"/>
          </ac:spMkLst>
        </pc:spChg>
        <pc:spChg chg="mod">
          <ac:chgData name="Keshavamurthy YC" userId="bf6a1185fec05998" providerId="LiveId" clId="{DFF3F985-E1C4-4C93-9341-E6091D18B275}" dt="2024-07-03T07:31:10.839" v="37"/>
          <ac:spMkLst>
            <pc:docMk/>
            <pc:sldMk cId="0" sldId="256"/>
            <ac:spMk id="173" creationId="{00000000-0000-0000-0000-000000000000}"/>
          </ac:spMkLst>
        </pc:spChg>
        <pc:spChg chg="mod">
          <ac:chgData name="Keshavamurthy YC" userId="bf6a1185fec05998" providerId="LiveId" clId="{DFF3F985-E1C4-4C93-9341-E6091D18B275}" dt="2024-07-03T07:31:45.800" v="77" actId="1035"/>
          <ac:spMkLst>
            <pc:docMk/>
            <pc:sldMk cId="0" sldId="256"/>
            <ac:spMk id="174" creationId="{00000000-0000-0000-0000-000000000000}"/>
          </ac:spMkLst>
        </pc:spChg>
      </pc:sldChg>
    </pc:docChg>
  </pc:docChgLst>
  <pc:docChgLst>
    <pc:chgData name="Keshavamurthy YC" userId="bf6a1185fec05998" providerId="LiveId" clId="{8355D0B3-71DD-40A6-96C8-8B12F51E2007}"/>
    <pc:docChg chg="undo custSel modSld">
      <pc:chgData name="Keshavamurthy YC" userId="bf6a1185fec05998" providerId="LiveId" clId="{8355D0B3-71DD-40A6-96C8-8B12F51E2007}" dt="2024-04-04T09:32:51.772" v="163" actId="14100"/>
      <pc:docMkLst>
        <pc:docMk/>
      </pc:docMkLst>
      <pc:sldChg chg="addSp delSp modSp mod">
        <pc:chgData name="Keshavamurthy YC" userId="bf6a1185fec05998" providerId="LiveId" clId="{8355D0B3-71DD-40A6-96C8-8B12F51E2007}" dt="2024-04-04T09:32:51.772" v="163" actId="14100"/>
        <pc:sldMkLst>
          <pc:docMk/>
          <pc:sldMk cId="0" sldId="256"/>
        </pc:sldMkLst>
        <pc:spChg chg="mod">
          <ac:chgData name="Keshavamurthy YC" userId="bf6a1185fec05998" providerId="LiveId" clId="{8355D0B3-71DD-40A6-96C8-8B12F51E2007}" dt="2024-04-04T05:56:14.483" v="153" actId="1076"/>
          <ac:spMkLst>
            <pc:docMk/>
            <pc:sldMk cId="0" sldId="256"/>
            <ac:spMk id="2" creationId="{96549883-8540-6668-D479-B7068ACA60DE}"/>
          </ac:spMkLst>
        </pc:spChg>
        <pc:spChg chg="mod">
          <ac:chgData name="Keshavamurthy YC" userId="bf6a1185fec05998" providerId="LiveId" clId="{8355D0B3-71DD-40A6-96C8-8B12F51E2007}" dt="2024-04-04T05:56:09.546" v="152" actId="6549"/>
          <ac:spMkLst>
            <pc:docMk/>
            <pc:sldMk cId="0" sldId="256"/>
            <ac:spMk id="5" creationId="{0AD56C33-8595-63E3-6908-627CBDAC131B}"/>
          </ac:spMkLst>
        </pc:spChg>
        <pc:spChg chg="mod">
          <ac:chgData name="Keshavamurthy YC" userId="bf6a1185fec05998" providerId="LiveId" clId="{8355D0B3-71DD-40A6-96C8-8B12F51E2007}" dt="2024-04-04T05:53:36.936" v="96" actId="20577"/>
          <ac:spMkLst>
            <pc:docMk/>
            <pc:sldMk cId="0" sldId="256"/>
            <ac:spMk id="7" creationId="{ECCC3B4A-9606-90BB-BB04-2AC50E455D9E}"/>
          </ac:spMkLst>
        </pc:spChg>
        <pc:spChg chg="add mod">
          <ac:chgData name="Keshavamurthy YC" userId="bf6a1185fec05998" providerId="LiveId" clId="{8355D0B3-71DD-40A6-96C8-8B12F51E2007}" dt="2024-04-04T09:25:59.910" v="162" actId="1076"/>
          <ac:spMkLst>
            <pc:docMk/>
            <pc:sldMk cId="0" sldId="256"/>
            <ac:spMk id="8" creationId="{C3C138E0-EC15-F332-8FAA-6F2D3C197756}"/>
          </ac:spMkLst>
        </pc:spChg>
        <pc:spChg chg="del mod">
          <ac:chgData name="Keshavamurthy YC" userId="bf6a1185fec05998" providerId="LiveId" clId="{8355D0B3-71DD-40A6-96C8-8B12F51E2007}" dt="2024-04-04T05:52:35.528" v="59" actId="478"/>
          <ac:spMkLst>
            <pc:docMk/>
            <pc:sldMk cId="0" sldId="256"/>
            <ac:spMk id="9" creationId="{C5347F0B-98C5-A53D-574D-A42B8102849A}"/>
          </ac:spMkLst>
        </pc:spChg>
        <pc:spChg chg="mod">
          <ac:chgData name="Keshavamurthy YC" userId="bf6a1185fec05998" providerId="LiveId" clId="{8355D0B3-71DD-40A6-96C8-8B12F51E2007}" dt="2024-04-04T05:53:07.768" v="88" actId="20577"/>
          <ac:spMkLst>
            <pc:docMk/>
            <pc:sldMk cId="0" sldId="256"/>
            <ac:spMk id="10" creationId="{F5BD3962-3D08-292D-5F38-37E5A5B1CC5C}"/>
          </ac:spMkLst>
        </pc:spChg>
        <pc:spChg chg="add mod">
          <ac:chgData name="Keshavamurthy YC" userId="bf6a1185fec05998" providerId="LiveId" clId="{8355D0B3-71DD-40A6-96C8-8B12F51E2007}" dt="2024-04-04T05:53:31.430" v="94" actId="1076"/>
          <ac:spMkLst>
            <pc:docMk/>
            <pc:sldMk cId="0" sldId="256"/>
            <ac:spMk id="13" creationId="{4D62BE2B-B35B-D625-2122-05FD6EFD4E3C}"/>
          </ac:spMkLst>
        </pc:spChg>
        <pc:spChg chg="add mod">
          <ac:chgData name="Keshavamurthy YC" userId="bf6a1185fec05998" providerId="LiveId" clId="{8355D0B3-71DD-40A6-96C8-8B12F51E2007}" dt="2024-04-04T05:53:24.489" v="92" actId="1076"/>
          <ac:spMkLst>
            <pc:docMk/>
            <pc:sldMk cId="0" sldId="256"/>
            <ac:spMk id="14" creationId="{54A8FCE1-366B-E6EE-3D88-A2A7CAABDFD2}"/>
          </ac:spMkLst>
        </pc:spChg>
        <pc:spChg chg="mod">
          <ac:chgData name="Keshavamurthy YC" userId="bf6a1185fec05998" providerId="LiveId" clId="{8355D0B3-71DD-40A6-96C8-8B12F51E2007}" dt="2024-04-04T05:56:17.069" v="154" actId="1076"/>
          <ac:spMkLst>
            <pc:docMk/>
            <pc:sldMk cId="0" sldId="256"/>
            <ac:spMk id="149" creationId="{00000000-0000-0000-0000-000000000000}"/>
          </ac:spMkLst>
        </pc:spChg>
        <pc:spChg chg="mod">
          <ac:chgData name="Keshavamurthy YC" userId="bf6a1185fec05998" providerId="LiveId" clId="{8355D0B3-71DD-40A6-96C8-8B12F51E2007}" dt="2024-04-04T05:54:57.749" v="150" actId="20577"/>
          <ac:spMkLst>
            <pc:docMk/>
            <pc:sldMk cId="0" sldId="256"/>
            <ac:spMk id="172" creationId="{00000000-0000-0000-0000-000000000000}"/>
          </ac:spMkLst>
        </pc:spChg>
        <pc:spChg chg="mod">
          <ac:chgData name="Keshavamurthy YC" userId="bf6a1185fec05998" providerId="LiveId" clId="{8355D0B3-71DD-40A6-96C8-8B12F51E2007}" dt="2024-04-04T05:52:10.918" v="55" actId="20577"/>
          <ac:spMkLst>
            <pc:docMk/>
            <pc:sldMk cId="0" sldId="256"/>
            <ac:spMk id="173" creationId="{00000000-0000-0000-0000-000000000000}"/>
          </ac:spMkLst>
        </pc:spChg>
        <pc:spChg chg="mod">
          <ac:chgData name="Keshavamurthy YC" userId="bf6a1185fec05998" providerId="LiveId" clId="{8355D0B3-71DD-40A6-96C8-8B12F51E2007}" dt="2024-04-04T05:53:01.129" v="86" actId="20577"/>
          <ac:spMkLst>
            <pc:docMk/>
            <pc:sldMk cId="0" sldId="256"/>
            <ac:spMk id="174" creationId="{00000000-0000-0000-0000-000000000000}"/>
          </ac:spMkLst>
        </pc:spChg>
        <pc:spChg chg="add del">
          <ac:chgData name="Keshavamurthy YC" userId="bf6a1185fec05998" providerId="LiveId" clId="{8355D0B3-71DD-40A6-96C8-8B12F51E2007}" dt="2024-04-04T09:23:20.719" v="159" actId="478"/>
          <ac:spMkLst>
            <pc:docMk/>
            <pc:sldMk cId="0" sldId="256"/>
            <ac:spMk id="176" creationId="{00000000-0000-0000-0000-000000000000}"/>
          </ac:spMkLst>
        </pc:spChg>
        <pc:spChg chg="del mod">
          <ac:chgData name="Keshavamurthy YC" userId="bf6a1185fec05998" providerId="LiveId" clId="{8355D0B3-71DD-40A6-96C8-8B12F51E2007}" dt="2024-04-04T09:23:20.002" v="158" actId="478"/>
          <ac:spMkLst>
            <pc:docMk/>
            <pc:sldMk cId="0" sldId="256"/>
            <ac:spMk id="178" creationId="{00000000-0000-0000-0000-000000000000}"/>
          </ac:spMkLst>
        </pc:spChg>
        <pc:picChg chg="mod">
          <ac:chgData name="Keshavamurthy YC" userId="bf6a1185fec05998" providerId="LiveId" clId="{8355D0B3-71DD-40A6-96C8-8B12F51E2007}" dt="2024-04-04T09:32:51.772" v="163" actId="14100"/>
          <ac:picMkLst>
            <pc:docMk/>
            <pc:sldMk cId="0" sldId="256"/>
            <ac:picMk id="11" creationId="{7C2EFEC0-42F0-B598-C59C-701CF1C97309}"/>
          </ac:picMkLst>
        </pc:picChg>
        <pc:picChg chg="del">
          <ac:chgData name="Keshavamurthy YC" userId="bf6a1185fec05998" providerId="LiveId" clId="{8355D0B3-71DD-40A6-96C8-8B12F51E2007}" dt="2024-04-04T05:50:58.467" v="0" actId="478"/>
          <ac:picMkLst>
            <pc:docMk/>
            <pc:sldMk cId="0" sldId="256"/>
            <ac:picMk id="12" creationId="{4355FE5F-2608-7B12-2396-50050AE83C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8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1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5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2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5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echarts.org/" TargetMode="External"/><Relationship Id="rId5" Type="http://schemas.openxmlformats.org/officeDocument/2006/relationships/hyperlink" Target="https://www.mongodb.com/docs/compass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720867" y="1950156"/>
            <a:ext cx="7316458" cy="19230332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endParaRPr sz="1172" dirty="0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9" y="41090"/>
            <a:ext cx="14935940" cy="17958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IN" sz="24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RV College of Engineering, Bengaluru – 560059.</a:t>
            </a: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148305" y="703550"/>
            <a:ext cx="12120998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Title: 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</a:rPr>
              <a:t>MERN Tracker: Real-Time Personal Expense Analytics</a:t>
            </a: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 </a:t>
            </a:r>
            <a:endParaRPr sz="24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448902" y="1085845"/>
            <a:ext cx="7519803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Pranav Bhavimani | Rohan G | Rohan Kumar P | Nithish Prakash  </a:t>
            </a:r>
          </a:p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1RV25CS128 | 1RZ25CS139 | 1RZ25CS140 | 1RV25CS116  </a:t>
            </a:r>
            <a:endParaRPr sz="2000" dirty="0">
              <a:solidFill>
                <a:srgbClr val="975329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noAutofit/>
          </a:bodyPr>
          <a:lstStyle/>
          <a:p>
            <a:pPr marL="143538" indent="-74427">
              <a:lnSpc>
                <a:spcPct val="110000"/>
              </a:lnSpc>
              <a:buClr>
                <a:schemeClr val="dk1"/>
              </a:buClr>
              <a:buSzPts val="2600"/>
            </a:pPr>
            <a:endParaRPr sz="1088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42752" y="1941726"/>
            <a:ext cx="7519803" cy="19230333"/>
            <a:chOff x="26374694" y="8524168"/>
            <a:chExt cx="17964396" cy="28277704"/>
          </a:xfrm>
        </p:grpSpPr>
        <p:grpSp>
          <p:nvGrpSpPr>
            <p:cNvPr id="128" name="Google Shape;128;p1"/>
            <p:cNvGrpSpPr/>
            <p:nvPr/>
          </p:nvGrpSpPr>
          <p:grpSpPr>
            <a:xfrm>
              <a:off x="26374694" y="8524168"/>
              <a:ext cx="17964396" cy="28277704"/>
              <a:chOff x="26287382" y="8000294"/>
              <a:chExt cx="17964396" cy="28277704"/>
            </a:xfrm>
          </p:grpSpPr>
          <p:sp>
            <p:nvSpPr>
              <p:cNvPr id="131" name="Google Shape;131;p1"/>
              <p:cNvSpPr/>
              <p:nvPr/>
            </p:nvSpPr>
            <p:spPr>
              <a:xfrm>
                <a:off x="26287382" y="8000294"/>
                <a:ext cx="17964396" cy="28277704"/>
              </a:xfrm>
              <a:prstGeom prst="roundRect">
                <a:avLst>
                  <a:gd name="adj" fmla="val 2556"/>
                </a:avLst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spcFirstLastPara="1" wrap="square" lIns="38271" tIns="19130" rIns="38271" bIns="19130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3600"/>
                </a:pPr>
                <a:endParaRPr lang="en-IN" sz="1507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>
                  <a:buClr>
                    <a:schemeClr val="dk1"/>
                  </a:buClr>
                  <a:buSzPts val="3600"/>
                </a:pPr>
                <a:r>
                  <a:rPr lang="en-IN" sz="1507"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    </a:t>
                </a:r>
                <a:endParaRPr sz="1507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26784567" y="17765892"/>
                <a:ext cx="16741775" cy="33153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8271" tIns="19130" rIns="38271" bIns="19130" anchor="t" anchorCtr="0">
                <a:spAutoFit/>
              </a:bodyPr>
              <a:lstStyle/>
              <a:p>
                <a:pPr lvl="0"/>
                <a:r>
                  <a:rPr lang="en-IN" b="1" dirty="0"/>
                  <a:t>Automate Storage:</a:t>
                </a:r>
                <a:r>
                  <a:rPr lang="en-IN" dirty="0"/>
                  <a:t> Build a MERN REST API to seamlessly store, update, and fetch expense records.</a:t>
                </a:r>
              </a:p>
              <a:p>
                <a:pPr lvl="0"/>
                <a:endParaRPr lang="en-IN" dirty="0"/>
              </a:p>
              <a:p>
                <a:pPr lvl="0"/>
                <a:r>
                  <a:rPr lang="en-IN" b="1" dirty="0"/>
                  <a:t>Calculate Averages:</a:t>
                </a:r>
                <a:r>
                  <a:rPr lang="en-IN" dirty="0"/>
                  <a:t> Dynamically compute real-time metrics for total spend, daily average, and monthly average.</a:t>
                </a:r>
              </a:p>
              <a:p>
                <a:pPr lvl="0"/>
                <a:endParaRPr lang="en-IN" dirty="0"/>
              </a:p>
              <a:p>
                <a:pPr lvl="0"/>
                <a:r>
                  <a:rPr lang="en-IN" b="1" dirty="0"/>
                  <a:t>Visualize Habits:</a:t>
                </a:r>
                <a:r>
                  <a:rPr lang="en-IN" dirty="0"/>
                  <a:t> Design an interactive React dashboard with category pie charts and filterable tables.</a:t>
                </a:r>
              </a:p>
            </p:txBody>
          </p:sp>
        </p:grpSp>
        <p:sp>
          <p:nvSpPr>
            <p:cNvPr id="150" name="Google Shape;150;p1"/>
            <p:cNvSpPr txBox="1"/>
            <p:nvPr/>
          </p:nvSpPr>
          <p:spPr>
            <a:xfrm>
              <a:off x="26650065" y="8759472"/>
              <a:ext cx="17344338" cy="494637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71" tIns="19130" rIns="38271" bIns="19130" anchor="t" anchorCtr="0">
              <a:spAutoFit/>
            </a:bodyPr>
            <a:lstStyle/>
            <a:p>
              <a:pPr>
                <a:buClr>
                  <a:srgbClr val="002060"/>
                </a:buClr>
                <a:buSzPts val="4400"/>
              </a:pPr>
              <a:r>
                <a:rPr lang="en-IN" sz="1842" b="1" dirty="0">
                  <a:solidFill>
                    <a:srgbClr val="002060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                           Introduction</a:t>
              </a:r>
              <a:endParaRPr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424665" y="16214823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39230" indent="-143538">
              <a:buClr>
                <a:schemeClr val="dk1"/>
              </a:buClr>
              <a:buSzPts val="3600"/>
            </a:pPr>
            <a:endParaRPr sz="1507">
              <a:solidFill>
                <a:schemeClr val="dk1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213909" y="10920044"/>
            <a:ext cx="7397264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Methodology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7801192" y="2094542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Tools used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783025" y="5576404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Results</a:t>
            </a:r>
          </a:p>
        </p:txBody>
      </p:sp>
      <p:sp>
        <p:nvSpPr>
          <p:cNvPr id="174" name="Google Shape;174;p1"/>
          <p:cNvSpPr txBox="1"/>
          <p:nvPr/>
        </p:nvSpPr>
        <p:spPr>
          <a:xfrm>
            <a:off x="7822661" y="18639981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000" b="1" i="0" dirty="0">
                <a:effectLst/>
                <a:latin typeface="Söhne"/>
              </a:rPr>
              <a:t>References</a:t>
            </a:r>
          </a:p>
        </p:txBody>
      </p:sp>
      <p:sp>
        <p:nvSpPr>
          <p:cNvPr id="179" name="Google Shape;17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16" rIns="0" bIns="0" anchor="t" anchorCtr="0">
            <a:spAutoFit/>
          </a:bodyPr>
          <a:lstStyle/>
          <a:p>
            <a:pPr marL="5316"/>
            <a:r>
              <a:rPr lang="en-IN" sz="1674" i="1" dirty="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50;p1">
            <a:extLst>
              <a:ext uri="{FF2B5EF4-FFF2-40B4-BE49-F238E27FC236}">
                <a16:creationId xmlns:a16="http://schemas.microsoft.com/office/drawing/2014/main" id="{96549883-8540-6668-D479-B7068ACA60DE}"/>
              </a:ext>
            </a:extLst>
          </p:cNvPr>
          <p:cNvSpPr txBox="1"/>
          <p:nvPr/>
        </p:nvSpPr>
        <p:spPr>
          <a:xfrm>
            <a:off x="299159" y="8161747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Objectives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3" name="Google Shape;149;p1">
            <a:extLst>
              <a:ext uri="{FF2B5EF4-FFF2-40B4-BE49-F238E27FC236}">
                <a16:creationId xmlns:a16="http://schemas.microsoft.com/office/drawing/2014/main" id="{D84E6594-496A-649E-D408-EC8C95C89896}"/>
              </a:ext>
            </a:extLst>
          </p:cNvPr>
          <p:cNvSpPr txBox="1"/>
          <p:nvPr/>
        </p:nvSpPr>
        <p:spPr>
          <a:xfrm>
            <a:off x="246806" y="2596470"/>
            <a:ext cx="7008020" cy="22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just">
              <a:buClr>
                <a:schemeClr val="dk1"/>
              </a:buClr>
              <a:buSzPts val="4000"/>
            </a:pPr>
            <a:r>
              <a:rPr lang="en-IN" dirty="0"/>
              <a:t>In an era of digital finance, managing personal daily spending efficiently is a crucial life skill. The </a:t>
            </a:r>
            <a:r>
              <a:rPr lang="en-IN" b="1" dirty="0"/>
              <a:t>Personal Expense Tracker</a:t>
            </a:r>
            <a:r>
              <a:rPr lang="en-IN" dirty="0"/>
              <a:t> is a modern, full-stack web application engineered to bridge the gap between complex financial tracking and user-friendly design. Built from the ground up using the robust </a:t>
            </a:r>
            <a:r>
              <a:rPr lang="en-IN" b="1" dirty="0"/>
              <a:t>MERN stack</a:t>
            </a:r>
            <a:r>
              <a:rPr lang="en-IN" dirty="0"/>
              <a:t> (MongoDB, Express.js, React, and Node.js), this application provides users with real-time analytics, seamless CRUD operations, and an interactive visual dashboard to monitor their financial habits effortlessly.</a:t>
            </a:r>
            <a:endParaRPr lang="en-US" dirty="0"/>
          </a:p>
        </p:txBody>
      </p:sp>
      <p:sp>
        <p:nvSpPr>
          <p:cNvPr id="4" name="Google Shape;150;p1">
            <a:extLst>
              <a:ext uri="{FF2B5EF4-FFF2-40B4-BE49-F238E27FC236}">
                <a16:creationId xmlns:a16="http://schemas.microsoft.com/office/drawing/2014/main" id="{6F6964B9-9CEB-4BB5-CA66-443F445C218E}"/>
              </a:ext>
            </a:extLst>
          </p:cNvPr>
          <p:cNvSpPr txBox="1"/>
          <p:nvPr/>
        </p:nvSpPr>
        <p:spPr>
          <a:xfrm>
            <a:off x="243629" y="4873052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Problem Definition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5" name="Google Shape;149;p1">
            <a:extLst>
              <a:ext uri="{FF2B5EF4-FFF2-40B4-BE49-F238E27FC236}">
                <a16:creationId xmlns:a16="http://schemas.microsoft.com/office/drawing/2014/main" id="{0AD56C33-8595-63E3-6908-627CBDAC131B}"/>
              </a:ext>
            </a:extLst>
          </p:cNvPr>
          <p:cNvSpPr txBox="1"/>
          <p:nvPr/>
        </p:nvSpPr>
        <p:spPr>
          <a:xfrm>
            <a:off x="408531" y="5349291"/>
            <a:ext cx="7008020" cy="28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r>
              <a:rPr lang="en-IN" dirty="0"/>
              <a:t>Individuals lack an intuitive, real-time tool to effortlessly track, categorize, and </a:t>
            </a:r>
            <a:r>
              <a:rPr lang="en-IN" dirty="0" err="1"/>
              <a:t>analyze</a:t>
            </a:r>
            <a:r>
              <a:rPr lang="en-IN" dirty="0"/>
              <a:t> their daily spending habits, leading to poor financial visibility and budgeting discipline.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IN" dirty="0"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r>
              <a:rPr lang="en-IN" dirty="0"/>
              <a:t>Traditional manual record-keeping is tedious and fails to provide actionable feedback, making personal financial management difficult. This project bridges that gap with a full-stack MERN dashboard that automates data persistence, real-time analytics, and visual tracking. It empowers users to effortlessly monitor spending patterns, compute daily and monthly averages, and make informed financial decisions.</a:t>
            </a: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sp>
        <p:nvSpPr>
          <p:cNvPr id="7" name="Google Shape;149;p1">
            <a:extLst>
              <a:ext uri="{FF2B5EF4-FFF2-40B4-BE49-F238E27FC236}">
                <a16:creationId xmlns:a16="http://schemas.microsoft.com/office/drawing/2014/main" id="{ECCC3B4A-9606-90BB-BB04-2AC50E455D9E}"/>
              </a:ext>
            </a:extLst>
          </p:cNvPr>
          <p:cNvSpPr txBox="1"/>
          <p:nvPr/>
        </p:nvSpPr>
        <p:spPr>
          <a:xfrm>
            <a:off x="7912137" y="2616364"/>
            <a:ext cx="7008020" cy="28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/>
            <a:r>
              <a:rPr lang="en-IN" b="1" dirty="0"/>
              <a:t>Frontend:</a:t>
            </a:r>
            <a:r>
              <a:rPr lang="en-IN" dirty="0"/>
              <a:t> React (Vite), JavaScript (ES6+), Axios, Recharts, and CSS3 / Tailwind CSS.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Backend:</a:t>
            </a:r>
            <a:r>
              <a:rPr lang="en-IN" dirty="0"/>
              <a:t> Node.js, Express.js, and </a:t>
            </a:r>
            <a:r>
              <a:rPr lang="en-IN" dirty="0" err="1"/>
              <a:t>Cors</a:t>
            </a:r>
            <a:r>
              <a:rPr lang="en-IN" dirty="0"/>
              <a:t>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Database &amp; Persistence:</a:t>
            </a:r>
            <a:r>
              <a:rPr lang="en-IN" dirty="0"/>
              <a:t> MongoDB (Local Windows Service), Mongoose (ODM), and MongoDB Compass (GUI).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Development &amp; Automation:</a:t>
            </a:r>
            <a:r>
              <a:rPr lang="en-IN" dirty="0"/>
              <a:t> Custom JavaScript Data Seeding Script (seed.js), </a:t>
            </a:r>
            <a:r>
              <a:rPr lang="en-IN" dirty="0" err="1"/>
              <a:t>dotenv</a:t>
            </a:r>
            <a:r>
              <a:rPr lang="en-IN" dirty="0"/>
              <a:t>, and </a:t>
            </a:r>
            <a:r>
              <a:rPr lang="en-IN" dirty="0" err="1"/>
              <a:t>nodemon</a:t>
            </a:r>
            <a:r>
              <a:rPr lang="en-IN" dirty="0"/>
              <a:t>.</a:t>
            </a:r>
          </a:p>
        </p:txBody>
      </p:sp>
      <p:pic>
        <p:nvPicPr>
          <p:cNvPr id="11" name="Picture 2" descr="May be an image of text that says &quot;R RASHTREEYA R SIKSHANA SAMITHI SAMAITHI V TRUST INSTITUTIONS&quot;">
            <a:extLst>
              <a:ext uri="{FF2B5EF4-FFF2-40B4-BE49-F238E27FC236}">
                <a16:creationId xmlns:a16="http://schemas.microsoft.com/office/drawing/2014/main" id="{7C2EFEC0-42F0-B598-C59C-701CF1C97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2" y="111045"/>
            <a:ext cx="1655508" cy="16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798572" y="11524931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Conclusions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" name="Google Shape;149;p1">
            <a:extLst>
              <a:ext uri="{FF2B5EF4-FFF2-40B4-BE49-F238E27FC236}">
                <a16:creationId xmlns:a16="http://schemas.microsoft.com/office/drawing/2014/main" id="{54A8FCE1-366B-E6EE-3D88-A2A7CAABDFD2}"/>
              </a:ext>
            </a:extLst>
          </p:cNvPr>
          <p:cNvSpPr txBox="1"/>
          <p:nvPr/>
        </p:nvSpPr>
        <p:spPr>
          <a:xfrm>
            <a:off x="7822661" y="14972782"/>
            <a:ext cx="7008020" cy="234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6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764725" y="15119063"/>
            <a:ext cx="7330911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Outcome of the work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47" name="Google Shape;149;p1"/>
          <p:cNvSpPr txBox="1"/>
          <p:nvPr/>
        </p:nvSpPr>
        <p:spPr>
          <a:xfrm>
            <a:off x="7798572" y="15493502"/>
            <a:ext cx="7008020" cy="336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/>
            <a:r>
              <a:rPr lang="en-IN" b="1" dirty="0"/>
              <a:t>Fully Functional Full-Stack Architecture:</a:t>
            </a:r>
            <a:r>
              <a:rPr lang="en-IN" dirty="0"/>
              <a:t> Successfully integrated a complete MERN (MongoDB, Express, React, Node.js) stack, establishing reliable communication between the client interface and the database.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Automated Data Seeding &amp; Management:</a:t>
            </a:r>
            <a:r>
              <a:rPr lang="en-IN" dirty="0"/>
              <a:t> Developed a custom automated script (seed.js) that populates realistic historical expense data, ensuring the app is instantly testable and fully populated upon launch.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Real-Time Financial Metrics:</a:t>
            </a:r>
            <a:r>
              <a:rPr lang="en-IN" dirty="0"/>
              <a:t> Enabled dynamic client-side calculations that instantly compute total spending, daily averages, and monthly averages as users add or modify records. </a:t>
            </a:r>
          </a:p>
          <a:p>
            <a:pPr lvl="0"/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E4965F-7055-310B-9F6E-81662D3ACA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64"/>
          <a:stretch>
            <a:fillRect/>
          </a:stretch>
        </p:blipFill>
        <p:spPr>
          <a:xfrm>
            <a:off x="802934" y="11361530"/>
            <a:ext cx="5897103" cy="96635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B2D6FE-FA6B-DA79-760D-5FF7D5F6F131}"/>
              </a:ext>
            </a:extLst>
          </p:cNvPr>
          <p:cNvSpPr txBox="1"/>
          <p:nvPr/>
        </p:nvSpPr>
        <p:spPr>
          <a:xfrm>
            <a:off x="7912137" y="6032500"/>
            <a:ext cx="67986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Seamless Data Persistence:</a:t>
            </a:r>
            <a:r>
              <a:rPr lang="en-IN" dirty="0"/>
              <a:t> Successfully established a RESTful API with MongoDB, ensuring immediate, reliable CRUD operations for all transaction records.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Automated Data Seeding:</a:t>
            </a:r>
            <a:r>
              <a:rPr lang="en-IN" dirty="0"/>
              <a:t> Generated 50 realistic historical mock expenses across a 90-day period using a custom seed.js script to instantly validate analytics.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Real-Time Analytics Engine:</a:t>
            </a:r>
            <a:r>
              <a:rPr lang="en-IN" dirty="0"/>
              <a:t> Implemented client-side calculation logic that dynamically computes total spending, daily averages, and monthly financial metrics without delay.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Interactive Data Visualization:</a:t>
            </a:r>
            <a:r>
              <a:rPr lang="en-IN" dirty="0"/>
              <a:t> Rendered dynamic category spending breakdowns using Recharts pie charts for quick visual pattern recognition.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Responsive Dual-View UI:</a:t>
            </a:r>
            <a:r>
              <a:rPr lang="en-IN" dirty="0"/>
              <a:t> Created a user-friendly dashboard with a toggleable full-history table featuring instant, zero-latency category filtering.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E54577-26CA-E311-4FF5-86D0ADF040FE}"/>
              </a:ext>
            </a:extLst>
          </p:cNvPr>
          <p:cNvSpPr txBox="1"/>
          <p:nvPr/>
        </p:nvSpPr>
        <p:spPr>
          <a:xfrm>
            <a:off x="7875086" y="11899900"/>
            <a:ext cx="69775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Project Success:</a:t>
            </a:r>
            <a:r>
              <a:rPr lang="en-IN" dirty="0"/>
              <a:t> Successfully developed and deployed a fully functional, end-to-end MERN personal expense tracker that bridges the gap between data persistence and user-friendly financial management.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Core Impact:</a:t>
            </a:r>
            <a:r>
              <a:rPr lang="en-IN" dirty="0"/>
              <a:t> Automated real-time analytics and dynamic visual categorization empower users to effortlessly monitor daily and monthly spending habits.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Future Scope:</a:t>
            </a:r>
            <a:r>
              <a:rPr lang="en-IN" dirty="0"/>
              <a:t> The application provides a solid foundation for future enhancements, such as user authentication (JWT), budget goal alerts, and multi-currency support.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DC8D7F-6E31-E661-6872-92FC20942396}"/>
              </a:ext>
            </a:extLst>
          </p:cNvPr>
          <p:cNvSpPr txBox="1"/>
          <p:nvPr/>
        </p:nvSpPr>
        <p:spPr>
          <a:xfrm>
            <a:off x="7798572" y="19075291"/>
            <a:ext cx="71215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[1] MongoDB, Inc., "MongoDB Compass Guide &amp; CRUD Operations," </a:t>
            </a:r>
            <a:r>
              <a:rPr lang="en-IN" i="1" dirty="0"/>
              <a:t>MongoDB Documentation</a:t>
            </a:r>
            <a:r>
              <a:rPr lang="en-IN" dirty="0"/>
              <a:t>. [Online]. Available: </a:t>
            </a:r>
            <a:r>
              <a:rPr lang="en-IN" dirty="0">
                <a:hlinkClick r:id="rId5"/>
              </a:rPr>
              <a:t>https://www.mongodb.com/docs/compass/</a:t>
            </a:r>
            <a:r>
              <a:rPr lang="en-IN" dirty="0"/>
              <a:t>. [Accessed: Oct. 2026].</a:t>
            </a:r>
          </a:p>
          <a:p>
            <a:r>
              <a:rPr lang="en-IN" dirty="0"/>
              <a:t>[2] Recharts Community, "Recharts: A composable charting library built on React components," </a:t>
            </a:r>
            <a:r>
              <a:rPr lang="en-IN" i="1" dirty="0"/>
              <a:t>Recharts Library</a:t>
            </a:r>
            <a:r>
              <a:rPr lang="en-IN" dirty="0"/>
              <a:t>. [Online]. Available: </a:t>
            </a:r>
            <a:r>
              <a:rPr lang="en-IN" dirty="0">
                <a:hlinkClick r:id="rId6"/>
              </a:rPr>
              <a:t>https://recharts.org/</a:t>
            </a:r>
            <a:r>
              <a:rPr lang="en-IN" dirty="0"/>
              <a:t>. [Accessed: Oct. 2026].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381</TotalTime>
  <Words>733</Words>
  <Application>Microsoft Office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Comic Sans MS</vt:lpstr>
      <vt:lpstr>Playfair Display</vt:lpstr>
      <vt:lpstr>Trebuchet MS</vt:lpstr>
      <vt:lpstr>Bookman Old Style</vt:lpstr>
      <vt:lpstr>Times New Roman</vt:lpstr>
      <vt:lpstr>Calibri</vt:lpstr>
      <vt:lpstr>Arial</vt:lpstr>
      <vt:lpstr>Calibri Light</vt:lpstr>
      <vt:lpstr>Georgia</vt:lpstr>
      <vt:lpstr>Söhne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india</dc:creator>
  <cp:lastModifiedBy>Pranav Bhavimani</cp:lastModifiedBy>
  <cp:revision>27</cp:revision>
  <cp:lastPrinted>2024-01-29T05:31:42Z</cp:lastPrinted>
  <dcterms:created xsi:type="dcterms:W3CDTF">2020-07-26T16:54:19Z</dcterms:created>
  <dcterms:modified xsi:type="dcterms:W3CDTF">2026-10-28T06:54:09Z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